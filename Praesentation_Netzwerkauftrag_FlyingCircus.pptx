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2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48840"/>
            <a:ext cx="12191695" cy="10972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Bedag Informatik 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C9CCD1"/>
                </a:solidFill>
                <a:latin typeface="Arial"/>
              </a:rPr>
              <a:t>IT-Dienstleistungen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23262B"/>
                </a:solidFill>
                <a:latin typeface="Arial"/>
              </a:rPr>
              <a:t>Netzwerkauftrag Flying Circus GmbH</a:t>
            </a:r>
          </a:p>
          <a:p>
            <a:r>
              <a:rPr sz="2400" b="1" i="0">
                <a:solidFill>
                  <a:srgbClr val="E2001A"/>
                </a:solidFill>
                <a:latin typeface="Arial"/>
              </a:rPr>
              <a:t>Aufbau der Active-Directory-Umgebung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5A5F66"/>
                </a:solidFill>
                <a:latin typeface="Arial"/>
              </a:rPr>
              <a:t>Projektabschluss – Praesentation nach der Umsetzung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2001A"/>
                </a:solidFill>
                <a:latin typeface="Arial"/>
              </a:rPr>
              <a:t>Bearbeiter:  </a:t>
            </a:r>
            <a:r>
              <a:rPr sz="1300" b="0" i="0">
                <a:solidFill>
                  <a:srgbClr val="23262B"/>
                </a:solidFill>
                <a:latin typeface="Arial"/>
              </a:rPr>
              <a:t>Aebischer Fionn</a:t>
            </a:r>
          </a:p>
          <a:p>
            <a:r>
              <a:rPr sz="1300" b="1" i="0">
                <a:solidFill>
                  <a:srgbClr val="E2001A"/>
                </a:solidFill>
                <a:latin typeface="Arial"/>
              </a:rPr>
              <a:t>Lehrbetrieb:  </a:t>
            </a:r>
            <a:r>
              <a:rPr sz="1300" b="0" i="0">
                <a:solidFill>
                  <a:srgbClr val="23262B"/>
                </a:solidFill>
                <a:latin typeface="Arial"/>
              </a:rPr>
              <a:t>Bedag Informatik AG</a:t>
            </a:r>
          </a:p>
          <a:p>
            <a:r>
              <a:rPr sz="1300" b="1" i="0">
                <a:solidFill>
                  <a:srgbClr val="E2001A"/>
                </a:solidFill>
                <a:latin typeface="Arial"/>
              </a:rPr>
              <a:t>Umgebung:  </a:t>
            </a:r>
            <a:r>
              <a:rPr sz="1300" b="0" i="0">
                <a:solidFill>
                  <a:srgbClr val="23262B"/>
                </a:solidFill>
                <a:latin typeface="Arial"/>
              </a:rPr>
              <a:t>Hyper-V, virtuell  ·  flyingcircus.local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Inhalt der Praesentation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01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Ausgangslage und Auftrag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02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Zielumgebung im Ueberblick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03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Netzwerkplan und Topologie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04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Server, Rollen und Partitionierung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05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Active Directory, Namens- und OU-Konzept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202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06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Benutzer, Gruppen und Berechtigungen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07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DHCP, DNS und Gruppenrichtlinien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08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Backup- und Restore-Konzept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09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Funktionstests und Resultate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10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Fazit und Reflexion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AUSGANGSLAGE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Auftrag und Ziel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Auftrag: komplette IT-Infrastruktur der fiktiven Flying Circus GmbH von Grund auf aufbauen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Fuenf Abteilungen, rund 16 Mitarbeitende, zentrale Verwaltung ueber Active Directory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Ausgangslage war leer: keine VMs, keine Domaene, kein Fileserver, keine Benutzer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Gesamte Umgebung vollstaendig virtuell in Hyper-V aufgebaut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Vorgaben der Kundschaft: Least Privilege, Anmeldung per Domaenen-Benutzer, Home-Laufwerk, einheitliche Clients via GPO, abteilungsweise Backups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Diese Praesentation zeigt das fertige Ergebnis nach der Umsetzung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UEBERBLICK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Zielumgebung im Ueberblick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1092707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031"/>
                <a:gridCol w="2108734"/>
                <a:gridCol w="4025766"/>
                <a:gridCol w="2875547"/>
              </a:tblGrid>
              <a:tr h="483325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Komponente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Rolle / OS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IP-Adresse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Server-VM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FC-SRV-01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Windows Server 2025 – DC, DNS, DHCP, Datei, Druck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192.168.100.10 (statisch)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Client-VM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FC-CL-01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Windows 11 Pro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via DHCP (.100–.199)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Client-VM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FC-CL-02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Windows 11 Pro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via DHCP (.100–.199)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NAS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FC-NAS-01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Separates Backup-Ziel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192.168.100.20 (statisch)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Drucker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FC-PR-01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Netzwerkdrucker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192.168.100.201 (Reservierung)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Switch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FC-Switch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Hyper-V-Switch, Typ privat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Subnetz 192.168.100.0/24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A5F66"/>
                </a:solidFill>
                <a:latin typeface="Arial"/>
              </a:rPr>
              <a:t>Privater Adressbereich nach RFC 1918 – nicht direkt aus dem Internet erreichbar.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NETZWERKPLAN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Topologie der Umgebung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783080"/>
            <a:ext cx="2286000" cy="64008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12700">
            <a:solidFill>
              <a:srgbClr val="D7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i="0">
                <a:solidFill>
                  <a:srgbClr val="23262B"/>
                </a:solidFill>
                <a:latin typeface="Arial"/>
              </a:rPr>
              <a:t>Router / Gateway</a:t>
            </a:r>
          </a:p>
          <a:p>
            <a:pPr algn="ctr"/>
            <a:r>
              <a:rPr sz="950" b="0" i="0">
                <a:solidFill>
                  <a:srgbClr val="5A5F66"/>
                </a:solidFill>
                <a:latin typeface="Arial"/>
              </a:rPr>
              <a:t>192.168.100.1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423160"/>
            <a:ext cx="0" cy="320040"/>
          </a:xfrm>
          <a:prstGeom prst="bentConnector3">
            <a:avLst/>
          </a:prstGeom>
          <a:ln w="19050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80560" y="274320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12700">
            <a:solidFill>
              <a:srgbClr val="D7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i="0">
                <a:solidFill>
                  <a:srgbClr val="23262B"/>
                </a:solidFill>
                <a:latin typeface="Arial"/>
              </a:rPr>
              <a:t>FC-Switch (privat)</a:t>
            </a:r>
          </a:p>
          <a:p>
            <a:pPr algn="ctr"/>
            <a:r>
              <a:rPr sz="950" b="0" i="0">
                <a:solidFill>
                  <a:srgbClr val="5A5F66"/>
                </a:solidFill>
                <a:latin typeface="Arial"/>
              </a:rPr>
              <a:t>Hyper-V-Switch · 192.168.100.0/24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3383280"/>
            <a:ext cx="0" cy="320040"/>
          </a:xfrm>
          <a:prstGeom prst="bentConnector3">
            <a:avLst/>
          </a:prstGeom>
          <a:ln w="19050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0" y="3703320"/>
            <a:ext cx="8092440" cy="0"/>
          </a:xfrm>
          <a:prstGeom prst="bentConnector3">
            <a:avLst/>
          </a:prstGeom>
          <a:ln w="19050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0" y="3703320"/>
            <a:ext cx="0" cy="320040"/>
          </a:xfrm>
          <a:prstGeom prst="bentConnector3">
            <a:avLst/>
          </a:prstGeom>
          <a:ln w="19050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40233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DBE7F5"/>
          </a:solidFill>
          <a:ln w="12700">
            <a:solidFill>
              <a:srgbClr val="D7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i="0">
                <a:solidFill>
                  <a:srgbClr val="23262B"/>
                </a:solidFill>
                <a:latin typeface="Arial"/>
              </a:rPr>
              <a:t>FC-SRV-01</a:t>
            </a:r>
          </a:p>
          <a:p>
            <a:pPr algn="ctr"/>
            <a:r>
              <a:rPr sz="950" b="0" i="0">
                <a:solidFill>
                  <a:srgbClr val="5A5F66"/>
                </a:solidFill>
                <a:latin typeface="Arial"/>
              </a:rPr>
              <a:t>Windows Server 2025
DC · DNS · DHCP · Datei · Druck
192.168.100.10 (statisch)
C: System  D: Daten  E: Backup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3703320"/>
            <a:ext cx="0" cy="320040"/>
          </a:xfrm>
          <a:prstGeom prst="bentConnector3">
            <a:avLst/>
          </a:prstGeom>
          <a:ln w="19050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37560" y="40233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3EDF9"/>
          </a:solidFill>
          <a:ln w="12700">
            <a:solidFill>
              <a:srgbClr val="D7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i="0">
                <a:solidFill>
                  <a:srgbClr val="23262B"/>
                </a:solidFill>
                <a:latin typeface="Arial"/>
              </a:rPr>
              <a:t>FC-CL-01</a:t>
            </a:r>
          </a:p>
          <a:p>
            <a:pPr algn="ctr"/>
            <a:r>
              <a:rPr sz="950" b="0" i="0">
                <a:solidFill>
                  <a:srgbClr val="5A5F66"/>
                </a:solidFill>
                <a:latin typeface="Arial"/>
              </a:rPr>
              <a:t>Windows 11 Pro
IP via DHCP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59" y="3703320"/>
            <a:ext cx="0" cy="320040"/>
          </a:xfrm>
          <a:prstGeom prst="bentConnector3">
            <a:avLst/>
          </a:prstGeom>
          <a:ln w="19050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35040" y="40233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3EDF9"/>
          </a:solidFill>
          <a:ln w="12700">
            <a:solidFill>
              <a:srgbClr val="D7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i="0">
                <a:solidFill>
                  <a:srgbClr val="23262B"/>
                </a:solidFill>
                <a:latin typeface="Arial"/>
              </a:rPr>
              <a:t>FC-CL-02</a:t>
            </a:r>
          </a:p>
          <a:p>
            <a:pPr algn="ctr"/>
            <a:r>
              <a:rPr sz="950" b="0" i="0">
                <a:solidFill>
                  <a:srgbClr val="5A5F66"/>
                </a:solidFill>
                <a:latin typeface="Arial"/>
              </a:rPr>
              <a:t>Windows 11 Pro
IP via DHCP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21240" y="3703320"/>
            <a:ext cx="0" cy="320040"/>
          </a:xfrm>
          <a:prstGeom prst="bentConnector3">
            <a:avLst/>
          </a:prstGeom>
          <a:ln w="19050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32520" y="40233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12700">
            <a:solidFill>
              <a:srgbClr val="D7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i="0">
                <a:solidFill>
                  <a:srgbClr val="23262B"/>
                </a:solidFill>
                <a:latin typeface="Arial"/>
              </a:rPr>
              <a:t>FC-PR-01</a:t>
            </a:r>
          </a:p>
          <a:p>
            <a:pPr algn="ctr"/>
            <a:r>
              <a:rPr sz="950" b="0" i="0">
                <a:solidFill>
                  <a:srgbClr val="5A5F66"/>
                </a:solidFill>
                <a:latin typeface="Arial"/>
              </a:rPr>
              <a:t>Netzwerkdrucker
192.168.100.201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28800" y="5394960"/>
            <a:ext cx="0" cy="228600"/>
          </a:xfrm>
          <a:prstGeom prst="bentConnector3">
            <a:avLst/>
          </a:prstGeom>
          <a:ln w="19050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5623560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E4F3E7"/>
          </a:solidFill>
          <a:ln w="12700">
            <a:solidFill>
              <a:srgbClr val="D7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i="0">
                <a:solidFill>
                  <a:srgbClr val="23262B"/>
                </a:solidFill>
                <a:latin typeface="Arial"/>
              </a:rPr>
              <a:t>FC-NAS-01</a:t>
            </a:r>
          </a:p>
          <a:p>
            <a:pPr algn="ctr"/>
            <a:r>
              <a:rPr sz="950" b="0" i="0">
                <a:solidFill>
                  <a:srgbClr val="5A5F66"/>
                </a:solidFill>
                <a:latin typeface="Arial"/>
              </a:rPr>
              <a:t>Backup-Ziel · 192.168.100.20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71500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5A5F66"/>
                </a:solidFill>
                <a:latin typeface="Arial"/>
              </a:rPr>
              <a:t>DHCP-Pool: 192.168.100.100–199   ·   Drucker-Reservierung: .201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Rollen und Partitionierung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FC-SRV-01 vereint alle Server-Rollen auf einer Maschine (Generation 2, 2 vCPU, 4 GB RAM)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Installierte Rollen: AD Domain Services, DNS, DHCP, Datei-Server, Druckserver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System und Daten bewusst getrennt – eine volle Datenpartition legt nicht das System lahm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703320"/>
          <a:ext cx="795527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79"/>
                <a:gridCol w="4735285"/>
                <a:gridCol w="1894114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Laufwerk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Verwendung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Richtgroesse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62B"/>
                          </a:solidFill>
                          <a:latin typeface="Arial"/>
                        </a:rPr>
                        <a:t>C: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62B"/>
                          </a:solidFill>
                          <a:latin typeface="Arial"/>
                        </a:rPr>
                        <a:t>System / Windows Server 2025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62B"/>
                          </a:solidFill>
                          <a:latin typeface="Arial"/>
                        </a:rPr>
                        <a:t>ca. 60 GB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62B"/>
                          </a:solidFill>
                          <a:latin typeface="Arial"/>
                        </a:rPr>
                        <a:t>D: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62B"/>
                          </a:solidFill>
                          <a:latin typeface="Arial"/>
                        </a:rPr>
                        <a:t>Daten (Freigaben, Home, Profile)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62B"/>
                          </a:solidFill>
                          <a:latin typeface="Arial"/>
                        </a:rPr>
                        <a:t>ca. 100 GB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62B"/>
                          </a:solidFill>
                          <a:latin typeface="Arial"/>
                        </a:rPr>
                        <a:t>E: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62B"/>
                          </a:solidFill>
                          <a:latin typeface="Arial"/>
                        </a:rPr>
                        <a:t>Backup – lokale Sicherung (eigene VHDX)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62B"/>
                          </a:solidFill>
                          <a:latin typeface="Arial"/>
                        </a:rPr>
                        <a:t>ca. 120 GB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ACTIVE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Domaene, Namens- und OU-Konzept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Domaene flyingcircus.local (NetBIOS FLYINGCIRCUS), FC-SRV-01 als Domain Controller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Haupt-OU FlyingCircus mit Unter-OUs fuer Benutzer, Computer, Server und Gruppen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OUs dienen der Verwaltung und GPO-Verknuepfung, Berechtigungen laufen ueber Gruppen (IGDLA)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657600"/>
          <a:ext cx="813815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152"/>
                <a:gridCol w="2941503"/>
                <a:gridCol w="2941503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Objekt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Schema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Beispiel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Server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FC-SRV-&lt;Nr&gt;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FC-SRV-01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Client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FC-CL-&lt;Nr&gt;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FC-CL-01 / FC-CL-02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Benutzer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vorname.nachname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daniel.lipo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Globale Gruppe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GG_&lt;Abteilung&gt;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GG_Entwicklung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Domaenenlokal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DLG_&lt;Zweck&gt;_&lt;Recht&gt;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DLG_ENT_RW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BENUTZER &amp; GRUPPEN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Struktur nach dem IGDLA-Prinzip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16 Mitarbeitende plus ein Admin-Konto angelegt, je Abteilung in einer globalen Gruppe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Globale Gruppen (GG) werden domaenenlokalen Gruppen (DLG) zugewiesen, diese tragen die Rechte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Home- und Profilpfad direkt am AD-Objekt gesetzt (H:-Laufwerk pro Person)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657600"/>
          <a:ext cx="859535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236"/>
                <a:gridCol w="3125585"/>
                <a:gridCol w="2539538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Globale Gruppe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Abteilung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Zugeordnete DLG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GG_Geschaeftsleitung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Geschaeftsleitung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DLG_GL_RW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GG_Informatik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Informatik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DLG_IT_RW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GG_Entwicklung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Entwicklung / Marketing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DLG_ENT_RW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GG_Support-Betrieb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Support / Betrieb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DLG_SUP_RW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GG_Personal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Personal (HR)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DLG_HR_RW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BERECHTIGUNGEN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Least Privilege und Freigaben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Zugriff ausschliesslich ueber Sicherheitsgruppen, NTFS regelt die effektive Berechtigung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Alle Freigaben versteckt ($), Vererbung auf vertraulichen Top-Level-Ordnern deaktiviert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Entwicklung/Marketing: geheim bis zur Freigabe, nur fuer die eigene Abteilung sichtbar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Personal (HR): vertraulich, nur die HR-Abteilung hat Zugriff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Drohnen-Logfiles im Support: lesbar nur fuer den Firmengruender daniel.lipo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DIENSTE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DHCP, DNS und Gruppenrichtlinien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E2001A"/>
                </a:solidFill>
                <a:latin typeface="Arial"/>
              </a:rPr>
              <a:t>DHCP &amp; DNS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400" b="0" i="0">
                <a:solidFill>
                  <a:srgbClr val="23262B"/>
                </a:solidFill>
                <a:latin typeface="Arial"/>
              </a:rPr>
              <a:t>Scope FC-Scope: 192.168.100.100–199, Lease 8 Tage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400" b="0" i="0">
                <a:solidFill>
                  <a:srgbClr val="23262B"/>
                </a:solidFill>
                <a:latin typeface="Arial"/>
              </a:rPr>
              <a:t>Gateway .1, DNS .10, Domaene flyingcircus.local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400" b="0" i="0">
                <a:solidFill>
                  <a:srgbClr val="23262B"/>
                </a:solidFill>
                <a:latin typeface="Arial"/>
              </a:rPr>
              <a:t>Reservierung Drucker FC-PR-01: .201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400" b="0" i="0">
                <a:solidFill>
                  <a:srgbClr val="23262B"/>
                </a:solidFill>
                <a:latin typeface="Arial"/>
              </a:rPr>
              <a:t>DNS-Aufloesung intern ueber FC-SRV-01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E2001A"/>
                </a:solidFill>
                <a:latin typeface="Arial"/>
              </a:rPr>
              <a:t>Gruppenrichtlinien (GPO)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400" b="0" i="0">
                <a:solidFill>
                  <a:srgbClr val="23262B"/>
                </a:solidFill>
                <a:latin typeface="Arial"/>
              </a:rPr>
              <a:t>GPO_Sicherheit: Passwort- und Sperrregeln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400" b="0" i="0">
                <a:solidFill>
                  <a:srgbClr val="23262B"/>
                </a:solidFill>
                <a:latin typeface="Arial"/>
              </a:rPr>
              <a:t>GPO_System_Richtlinien: Hintergrund, Sperre nach 5 Min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400" b="0" i="0">
                <a:solidFill>
                  <a:srgbClr val="23262B"/>
                </a:solidFill>
                <a:latin typeface="Arial"/>
              </a:rPr>
              <a:t>GPO_Browser: Edge-Startseite www.yuneec.com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400" b="0" i="0">
                <a:solidFill>
                  <a:srgbClr val="23262B"/>
                </a:solidFill>
                <a:latin typeface="Arial"/>
              </a:rPr>
              <a:t>GPO_Updates: automatische Updates, 14 Tage verzoegert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DATENSICHERUNG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Backup- und Restore-Konzept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Umgesetzt mit Windows Server Backup (Bordmittel)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Drei Sicherungsziele: lokal auf E:, extern auf USB-Stick, zusaetzlich auf das NAS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Abteilungsweise Haeufigkeit nach Vorgabe der Kundschaft: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611880"/>
          <a:ext cx="9326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3657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Bereich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Haeufigkeit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Besonderheit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Entwicklung / Marketing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stuendlich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geheime Daten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Personal (HR)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taeglich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zuverlaessige Wiederherstellung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Support – Logfiles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taeglich, extern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wenn moeglich verschluesselt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Uebrige Daten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taeglich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FUNKTIONSTESTS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Nach der Umsetzung geprueft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00" b="0" i="0">
                <a:solidFill>
                  <a:srgbClr val="23262B"/>
                </a:solidFill>
                <a:latin typeface="Arial"/>
              </a:rPr>
              <a:t>Zwoelf Testfaelle (T1–T12) definiert und nach dem Aufbau durchgespielt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377440"/>
          <a:ext cx="1092707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3483"/>
                <a:gridCol w="4470169"/>
                <a:gridCol w="2483427"/>
              </a:tblGrid>
              <a:tr h="42291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Geprueft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Ergebnis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3262B"/>
                          </a:solidFill>
                          <a:latin typeface="Arial"/>
                        </a:rPr>
                        <a:t>Login + Home-Laufwerk (H:)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Anmeldung an FC-CL-01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erfolgreich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3262B"/>
                          </a:solidFill>
                          <a:latin typeface="Arial"/>
                        </a:rPr>
                        <a:t>Berechtigungen Abteilungsordner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RW eigene, Zugriff fremd verweigert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wie geplant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3262B"/>
                          </a:solidFill>
                          <a:latin typeface="Arial"/>
                        </a:rPr>
                        <a:t>Logfiles nur Firmengruender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Support gesperrt, daniel.lipo darf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wie geplant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3262B"/>
                          </a:solidFill>
                          <a:latin typeface="Arial"/>
                        </a:rPr>
                        <a:t>DHCP-Bezug + DNS-Aufloesung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Client erhaelt IP, nslookup ok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erfolgreich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3262B"/>
                          </a:solidFill>
                          <a:latin typeface="Arial"/>
                        </a:rPr>
                        <a:t>GPO greift (Startseite, Sperre)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nach gpupdate geprueft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erfolgreich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3262B"/>
                          </a:solidFill>
                          <a:latin typeface="Arial"/>
                        </a:rPr>
                        <a:t>Backup + Restore einer Datei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E: / USB / NAS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Restore erfolgreich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3262B"/>
                          </a:solidFill>
                          <a:latin typeface="Arial"/>
                        </a:rPr>
                        <a:t>Druck auf FC-PR-01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Testseite von FC-CL-01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erfolgreich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Reflexion und Ausblick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Die geplante Umgebung wurde vollstaendig umgesetzt und alle Kernanforderungen erfuellt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Sauberes Namens- und Gruppenkonzept (IGDLA) macht die Verwaltung uebersichtlich und erweiterbar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Trennung von System und Daten sowie das dreifache Backup geben Sicherheit bei Ausfaellen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Gelernt: Reihenfolge ist wichtig – z.B. Passwortrichtlinie vor dem Anlegen der Benutzer setzen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Ausblick: zweiter DC fuer Hochverfuegbarkeit und unbeaufsichtigte Client-Installation als naechste Schritte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10972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Arial"/>
              </a:rPr>
              <a:t>Vielen Dank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C9CCD1"/>
                </a:solidFill>
                <a:latin typeface="Arial"/>
              </a:rPr>
              <a:t>Fragen und Diskussion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9A9FA6"/>
                </a:solidFill>
                <a:latin typeface="Arial"/>
              </a:rPr>
              <a:t>Bedag Informatik AG  ·  Engehaldenstrasse 12  ·  3001 Bern  ·  bedag.ch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